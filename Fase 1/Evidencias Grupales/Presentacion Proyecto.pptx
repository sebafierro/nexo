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15384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502920" y="6510528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Proyecto Capstone | Ingeniería en Informática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12191695" cy="641908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8549640" y="731520"/>
            <a:ext cx="3520440" cy="3520440"/>
          </a:xfrm>
          <a:prstGeom prst="ellipse">
            <a:avLst/>
          </a:prstGeom>
          <a:solidFill>
            <a:srgbClr val="163B61">
              <a:alpha val="85000"/>
            </a:srgbClr>
          </a:solidFill>
          <a:ln w="12700">
            <a:solidFill>
              <a:srgbClr val="163B6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Shape 2"/>
          <p:cNvSpPr/>
          <p:nvPr/>
        </p:nvSpPr>
        <p:spPr>
          <a:xfrm>
            <a:off x="9601200" y="1828800"/>
            <a:ext cx="2194560" cy="2194560"/>
          </a:xfrm>
          <a:prstGeom prst="ellipse">
            <a:avLst/>
          </a:prstGeom>
          <a:solidFill>
            <a:srgbClr val="2563EB">
              <a:alpha val="88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RENTFLOW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31520" y="17830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2E8F0"/>
                </a:solidFill>
              </a:rPr>
              <a:t>Plataforma web para automatización, conciliación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E2E8F0"/>
                </a:solidFill>
              </a:rPr>
              <a:t>y liquidación de arriendos</a:t>
            </a:r>
            <a:endParaRPr lang="en-US" sz="2500" dirty="0"/>
          </a:p>
        </p:txBody>
      </p:sp>
      <p:sp>
        <p:nvSpPr>
          <p:cNvPr id="7" name="Text 5"/>
          <p:cNvSpPr/>
          <p:nvPr/>
        </p:nvSpPr>
        <p:spPr>
          <a:xfrm>
            <a:off x="749808" y="310896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</a:rPr>
              <a:t>Proyecto Capstone · Ingeniería en Informática · Duoc UC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49808" y="3794760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749808" y="38221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BEAFE"/>
                </a:solidFill>
              </a:rPr>
              <a:t>DESARROLLO WEB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304288" y="3794760"/>
            <a:ext cx="1554480" cy="310896"/>
          </a:xfrm>
          <a:prstGeom prst="roundRect">
            <a:avLst>
              <a:gd name="adj" fmla="val 3529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2304288" y="3822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1FAE5"/>
                </a:solidFill>
              </a:rPr>
              <a:t>AUTOMATIZACIÓN</a:t>
            </a:r>
            <a:endParaRPr lang="en-US" sz="920" dirty="0"/>
          </a:p>
        </p:txBody>
      </p:sp>
      <p:sp>
        <p:nvSpPr>
          <p:cNvPr id="12" name="Shape 10"/>
          <p:cNvSpPr/>
          <p:nvPr/>
        </p:nvSpPr>
        <p:spPr>
          <a:xfrm>
            <a:off x="3995928" y="3794760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995928" y="38221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EF3C7"/>
                </a:solidFill>
              </a:rPr>
              <a:t>OCR / IA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559552" y="3794760"/>
            <a:ext cx="1417320" cy="310896"/>
          </a:xfrm>
          <a:prstGeom prst="roundRect">
            <a:avLst>
              <a:gd name="adj" fmla="val 35294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5559552" y="382219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E0E7FF"/>
                </a:solidFill>
              </a:rPr>
              <a:t>ANALÍTICA</a:t>
            </a:r>
            <a:endParaRPr lang="en-US" sz="920" dirty="0"/>
          </a:p>
        </p:txBody>
      </p:sp>
      <p:sp>
        <p:nvSpPr>
          <p:cNvPr id="16" name="Text 14"/>
          <p:cNvSpPr/>
          <p:nvPr/>
        </p:nvSpPr>
        <p:spPr>
          <a:xfrm>
            <a:off x="749808" y="5074920"/>
            <a:ext cx="6035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CBD5E1"/>
                </a:solidFill>
              </a:rPr>
              <a:t>Integrantes</a:t>
            </a:r>
            <a:r>
              <a:rPr lang="en-US" sz="1100" dirty="0">
                <a:solidFill>
                  <a:srgbClr val="CBD5E1"/>
                </a:solidFill>
              </a:rPr>
              <a:t>: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Matías Catalán 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Sebastian Fierro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Amaro Méndez</a:t>
            </a:r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</a:rPr>
              <a:t>Alejandro Ruiz de </a:t>
            </a:r>
            <a:r>
              <a:rPr lang="en-US" sz="1100" dirty="0" err="1">
                <a:solidFill>
                  <a:srgbClr val="CBD5E1"/>
                </a:solidFill>
              </a:rPr>
              <a:t>Viñaspre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469880" y="5715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E2E8F0"/>
                </a:solidFill>
              </a:rPr>
              <a:t>2026</a:t>
            </a:r>
            <a:endParaRPr lang="en-US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Problema que buscamos resolver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proceso actual depende de revisión manual, planillas y documentos dispersos.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3375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40080" y="1325880"/>
            <a:ext cx="64008" cy="18745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41248" y="1490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Información fragmentada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41248" y="1856232"/>
            <a:ext cx="301752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</a:rPr>
              <a:t>Datos de propiedades, pagos, servicios, gastos comunes y comprobantes se revisan en distintas fuentes y archivos.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407408" y="1325880"/>
            <a:ext cx="33375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407408" y="1325880"/>
            <a:ext cx="64008" cy="18745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608576" y="1490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Alta carga administrativa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08576" y="1856232"/>
            <a:ext cx="301752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</a:rPr>
              <a:t>Cada inmueble requiere comprobaciones repetitivas antes de determinar si puede liquidarse al propietario.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74736" y="1325880"/>
            <a:ext cx="3337560" cy="187452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8174736" y="1325880"/>
            <a:ext cx="64008" cy="187452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8375904" y="14904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Riesgo operacional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75904" y="1856232"/>
            <a:ext cx="3017520" cy="12161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</a:rPr>
              <a:t>La revisión manual aumenta la probabilidad de errores, reprocesos, omisiones y baja trazabilidad histórica.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10881360" cy="14173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896112" y="395020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Pregunta central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96112" y="4315968"/>
            <a:ext cx="9966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0B1F33"/>
                </a:solidFill>
              </a:rPr>
              <a:t>¿Cómo automatizar y centralizar la conciliación mensual de obligaciones de una cartera de propiedades para reducir tiempo, errores y morosidad?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Proceso actual (AS-IS)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liquidación se construye mediante una secuencia manual de verificaciones.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502920" y="1965960"/>
            <a:ext cx="13258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576072" y="210312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Excel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76072" y="2441448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</a:rPr>
              <a:t>Revisar cartera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1856232" y="2313432"/>
            <a:ext cx="237744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2029968" y="1965960"/>
            <a:ext cx="13258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2103120" y="210312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Arriendo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103120" y="2441448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</a:rPr>
              <a:t>Comprobar pago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3383280" y="2313432"/>
            <a:ext cx="237744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3557016" y="1965960"/>
            <a:ext cx="13258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630168" y="210312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GG.CC.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30168" y="2441448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</a:rPr>
              <a:t>Revisar deuda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4910328" y="2313432"/>
            <a:ext cx="237744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084064" y="1965960"/>
            <a:ext cx="13258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5157216" y="210312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Agua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157216" y="2441448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</a:rPr>
              <a:t>Verificar cuenta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6437376" y="2313432"/>
            <a:ext cx="237744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6611112" y="1965960"/>
            <a:ext cx="13258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6684264" y="210312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Luz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684264" y="2441448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</a:rPr>
              <a:t>Verificar cuenta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7964424" y="2313432"/>
            <a:ext cx="237744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8138160" y="1965960"/>
            <a:ext cx="13258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8211312" y="210312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Docs.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211312" y="2441448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</a:rPr>
              <a:t>Validar comprobantes</a:t>
            </a:r>
            <a:endParaRPr lang="en-US" sz="920" dirty="0"/>
          </a:p>
        </p:txBody>
      </p:sp>
      <p:sp>
        <p:nvSpPr>
          <p:cNvPr id="27" name="Shape 25"/>
          <p:cNvSpPr/>
          <p:nvPr/>
        </p:nvSpPr>
        <p:spPr>
          <a:xfrm>
            <a:off x="9491472" y="2313432"/>
            <a:ext cx="237744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9665208" y="1965960"/>
            <a:ext cx="1325880" cy="96012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397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9738360" y="2103120"/>
            <a:ext cx="117957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Liquidar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738360" y="2441448"/>
            <a:ext cx="11795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dirty="0">
                <a:solidFill>
                  <a:srgbClr val="475569"/>
                </a:solidFill>
              </a:rPr>
              <a:t>Calcular y emitir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658368" y="3749040"/>
            <a:ext cx="10789920" cy="141732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914400" y="39776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A3412"/>
                </a:solidFill>
              </a:rPr>
              <a:t>Puntos de dolor del proceso actual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914400" y="4370832"/>
            <a:ext cx="98755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Dependencia de la revisión humana y de la experiencia del administrador.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Búsqueda repetitiva de datos y documentos para cada propiedad.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Dificultad para saber rápidamente qué inmueble está listo para liquidar.</a:t>
            </a:r>
            <a:endParaRPr lang="en-US" sz="112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Solución propuesta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RentFlow centraliza la operación y automatiza la conciliación mensual.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749040" cy="4297680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105156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RENTFLOW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1115568" y="2359152"/>
            <a:ext cx="2926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2E8F0"/>
                </a:solidFill>
              </a:rPr>
              <a:t>Una sola plataforma para administrar, validar, conciliar y liquidar.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234440" y="3429000"/>
            <a:ext cx="2651760" cy="310896"/>
          </a:xfrm>
          <a:prstGeom prst="roundRect">
            <a:avLst>
              <a:gd name="adj" fmla="val 35294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1234440" y="34564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CFCE7"/>
                </a:solidFill>
              </a:rPr>
              <a:t>VERDE · AL DÍA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1234440" y="3886200"/>
            <a:ext cx="2651760" cy="310896"/>
          </a:xfrm>
          <a:prstGeom prst="roundRect">
            <a:avLst>
              <a:gd name="adj" fmla="val 35294"/>
            </a:avLst>
          </a:prstGeom>
          <a:solidFill>
            <a:srgbClr val="78350F"/>
          </a:solidFill>
          <a:ln w="12700">
            <a:solidFill>
              <a:srgbClr val="78350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234440" y="39136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EF3C7"/>
                </a:solidFill>
              </a:rPr>
              <a:t>AMARILLO · REVISAR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1234440" y="4343400"/>
            <a:ext cx="2651760" cy="310896"/>
          </a:xfrm>
          <a:prstGeom prst="roundRect">
            <a:avLst>
              <a:gd name="adj" fmla="val 35294"/>
            </a:avLst>
          </a:prstGeom>
          <a:solidFill>
            <a:srgbClr val="7F1D1D"/>
          </a:solidFill>
          <a:ln w="12700">
            <a:solidFill>
              <a:srgbClr val="7F1D1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1234440" y="437083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EE2E2"/>
                </a:solidFill>
              </a:rPr>
              <a:t>ROJO · CON MORA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4846320" y="1417320"/>
            <a:ext cx="2971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4846320" y="1417320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5047488" y="1581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Centralización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047488" y="1947672"/>
            <a:ext cx="2651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Propiedades, contratos, pagos, servicios y documentos en una base operacional.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092440" y="1417320"/>
            <a:ext cx="2971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Shape 16"/>
          <p:cNvSpPr/>
          <p:nvPr/>
        </p:nvSpPr>
        <p:spPr>
          <a:xfrm>
            <a:off x="8092440" y="1417320"/>
            <a:ext cx="64008" cy="123444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8293608" y="158191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Automatización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93608" y="1947672"/>
            <a:ext cx="2651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Motor de conciliación que cruza obligaciones, pagos y antecedentes.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2971800"/>
            <a:ext cx="2971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4846320" y="2971800"/>
            <a:ext cx="64008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5047488" y="31363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Procesamiento documental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47488" y="3502152"/>
            <a:ext cx="2651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OCR/IA para extraer datos desde boletas y comprobantes.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092440" y="2971800"/>
            <a:ext cx="2971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8092440" y="2971800"/>
            <a:ext cx="64008" cy="123444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8293608" y="313639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Liquidación automática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93608" y="3502152"/>
            <a:ext cx="2651760" cy="5760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Generación de PDF cuando la propiedad cumple las condiciones definidas.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73952" y="4526280"/>
            <a:ext cx="29718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6473952" y="4526280"/>
            <a:ext cx="64008" cy="10972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6675120" y="469087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Analítica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675120" y="5056632"/>
            <a:ext cx="265176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Histórico de pagos, mora y liquidaciones para indicadores de gestión.</a:t>
            </a:r>
            <a:endParaRPr lang="en-US" sz="10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Objetivos del proyecto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general se traduce en siete líneas de trabajo concretas.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10835640" cy="117043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14400" y="150876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D4ED8"/>
                </a:solidFill>
              </a:rPr>
              <a:t>Objetivo general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856232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1F33"/>
                </a:solidFill>
              </a:rPr>
              <a:t>Desarrollar una plataforma web que centralice y automatice la conciliación, el control de morosidad y la generación de liquidaciones de una corredora de propiedades.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3232" y="2816352"/>
            <a:ext cx="2880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841248" y="295351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Interfaz web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280160" y="32278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475569"/>
                </a:solidFill>
              </a:rPr>
              <a:t>Administrar propiedades, contratos, pagos y usuarios.</a:t>
            </a:r>
            <a:endParaRPr lang="en-US" sz="910" dirty="0"/>
          </a:p>
        </p:txBody>
      </p:sp>
      <p:sp>
        <p:nvSpPr>
          <p:cNvPr id="11" name="Shape 9"/>
          <p:cNvSpPr/>
          <p:nvPr/>
        </p:nvSpPr>
        <p:spPr>
          <a:xfrm>
            <a:off x="4187952" y="2816352"/>
            <a:ext cx="2880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4315968" y="295351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29260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Lógica y datos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754880" y="32278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475569"/>
                </a:solidFill>
              </a:rPr>
              <a:t>Modelar PostgreSQL y automatizar la conciliación.</a:t>
            </a:r>
            <a:endParaRPr lang="en-US" sz="910" dirty="0"/>
          </a:p>
        </p:txBody>
      </p:sp>
      <p:sp>
        <p:nvSpPr>
          <p:cNvPr id="15" name="Shape 13"/>
          <p:cNvSpPr/>
          <p:nvPr/>
        </p:nvSpPr>
        <p:spPr>
          <a:xfrm>
            <a:off x="7662672" y="2816352"/>
            <a:ext cx="2880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7790688" y="2953512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229600" y="29260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OCR / IA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0" y="3227832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475569"/>
                </a:solidFill>
              </a:rPr>
              <a:t>Extraer y validar información documental.</a:t>
            </a:r>
            <a:endParaRPr lang="en-US" sz="910" dirty="0"/>
          </a:p>
        </p:txBody>
      </p:sp>
      <p:sp>
        <p:nvSpPr>
          <p:cNvPr id="19" name="Shape 17"/>
          <p:cNvSpPr/>
          <p:nvPr/>
        </p:nvSpPr>
        <p:spPr>
          <a:xfrm>
            <a:off x="713232" y="4160520"/>
            <a:ext cx="2880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841248" y="429768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42702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Liquidaciones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280160" y="457200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475569"/>
                </a:solidFill>
              </a:rPr>
              <a:t>Generar liquidaciones de propiedades regularizadas.</a:t>
            </a:r>
            <a:endParaRPr lang="en-US" sz="910" dirty="0"/>
          </a:p>
        </p:txBody>
      </p:sp>
      <p:sp>
        <p:nvSpPr>
          <p:cNvPr id="23" name="Shape 21"/>
          <p:cNvSpPr/>
          <p:nvPr/>
        </p:nvSpPr>
        <p:spPr>
          <a:xfrm>
            <a:off x="4187952" y="4160520"/>
            <a:ext cx="2880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4315968" y="429768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0" y="42702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Analítica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754880" y="457200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475569"/>
                </a:solidFill>
              </a:rPr>
              <a:t>Construir histórico e indicadores de mora y pagos.</a:t>
            </a:r>
            <a:endParaRPr lang="en-US" sz="910" dirty="0"/>
          </a:p>
        </p:txBody>
      </p:sp>
      <p:sp>
        <p:nvSpPr>
          <p:cNvPr id="27" name="Shape 25"/>
          <p:cNvSpPr/>
          <p:nvPr/>
        </p:nvSpPr>
        <p:spPr>
          <a:xfrm>
            <a:off x="7662672" y="4160520"/>
            <a:ext cx="2880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Text 26"/>
          <p:cNvSpPr/>
          <p:nvPr/>
        </p:nvSpPr>
        <p:spPr>
          <a:xfrm>
            <a:off x="7790688" y="4297680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229600" y="427024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Seguridad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8229600" y="4572000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475569"/>
                </a:solidFill>
              </a:rPr>
              <a:t>Autenticación, autorización y trazabilidad.</a:t>
            </a:r>
            <a:endParaRPr lang="en-US" sz="910" dirty="0"/>
          </a:p>
        </p:txBody>
      </p:sp>
      <p:sp>
        <p:nvSpPr>
          <p:cNvPr id="31" name="Shape 29"/>
          <p:cNvSpPr/>
          <p:nvPr/>
        </p:nvSpPr>
        <p:spPr>
          <a:xfrm>
            <a:off x="4187952" y="5413248"/>
            <a:ext cx="2880360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Text 30"/>
          <p:cNvSpPr/>
          <p:nvPr/>
        </p:nvSpPr>
        <p:spPr>
          <a:xfrm>
            <a:off x="4315968" y="5550408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54880" y="55229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72A"/>
                </a:solidFill>
              </a:rPr>
              <a:t>Validación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754880" y="5824728"/>
            <a:ext cx="21488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10" dirty="0">
                <a:solidFill>
                  <a:srgbClr val="475569"/>
                </a:solidFill>
              </a:rPr>
              <a:t>Pruebas y evaluación de beneficio operativo/financiero.</a:t>
            </a:r>
            <a:endParaRPr lang="en-US" sz="91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Proceso propuesto (TO-BE)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sistema convierte una revisión manual en un flujo trazable y parcialmente automatizado.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187452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49224" y="1563624"/>
            <a:ext cx="347472" cy="34747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49224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97280" y="154533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Generar obligaciones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7280" y="184708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Arriendo, agua, luz, gastos comunes y otros conceptos.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2487168" y="1792224"/>
            <a:ext cx="274320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2834640" y="1417320"/>
            <a:ext cx="187452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2980944" y="1563624"/>
            <a:ext cx="347472" cy="347472"/>
          </a:xfrm>
          <a:prstGeom prst="ellipse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2980944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29000" y="154533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Recibir antecedentes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29000" y="184708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Pagos, boletas, comprobantes y documentos.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4818888" y="1792224"/>
            <a:ext cx="274320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5166360" y="1417320"/>
            <a:ext cx="187452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5312664" y="1563624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5312664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154533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Extraer datos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760720" y="184708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OCR/IA identifica cliente, monto, fecha y período.</a:t>
            </a:r>
            <a:endParaRPr lang="en-US" sz="960" dirty="0"/>
          </a:p>
        </p:txBody>
      </p:sp>
      <p:sp>
        <p:nvSpPr>
          <p:cNvPr id="21" name="Shape 19"/>
          <p:cNvSpPr/>
          <p:nvPr/>
        </p:nvSpPr>
        <p:spPr>
          <a:xfrm>
            <a:off x="7150608" y="1792224"/>
            <a:ext cx="274320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7498080" y="1417320"/>
            <a:ext cx="187452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Shape 21"/>
          <p:cNvSpPr/>
          <p:nvPr/>
        </p:nvSpPr>
        <p:spPr>
          <a:xfrm>
            <a:off x="7644384" y="1563624"/>
            <a:ext cx="347472" cy="347472"/>
          </a:xfrm>
          <a:prstGeom prst="ellipse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Text 22"/>
          <p:cNvSpPr/>
          <p:nvPr/>
        </p:nvSpPr>
        <p:spPr>
          <a:xfrm>
            <a:off x="7644384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092440" y="154533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Conciliar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092440" y="184708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Comparar obligación, pago y documento.</a:t>
            </a:r>
            <a:endParaRPr lang="en-US" sz="960" dirty="0"/>
          </a:p>
        </p:txBody>
      </p:sp>
      <p:sp>
        <p:nvSpPr>
          <p:cNvPr id="27" name="Shape 25"/>
          <p:cNvSpPr/>
          <p:nvPr/>
        </p:nvSpPr>
        <p:spPr>
          <a:xfrm>
            <a:off x="9482328" y="1792224"/>
            <a:ext cx="274320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9829800" y="1417320"/>
            <a:ext cx="1874520" cy="100584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9976104" y="1563624"/>
            <a:ext cx="347472" cy="347472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9976104" y="1600200"/>
            <a:ext cx="347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424160" y="1545336"/>
            <a:ext cx="11430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Determinar estado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424160" y="1847088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60" dirty="0">
                <a:solidFill>
                  <a:srgbClr val="475569"/>
                </a:solidFill>
              </a:rPr>
              <a:t>Verde, amarillo o rojo.</a:t>
            </a:r>
            <a:endParaRPr lang="en-US" sz="960" dirty="0"/>
          </a:p>
        </p:txBody>
      </p:sp>
      <p:sp>
        <p:nvSpPr>
          <p:cNvPr id="33" name="Shape 31"/>
          <p:cNvSpPr/>
          <p:nvPr/>
        </p:nvSpPr>
        <p:spPr>
          <a:xfrm>
            <a:off x="10515600" y="2633472"/>
            <a:ext cx="475488" cy="502920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Shape 32"/>
          <p:cNvSpPr/>
          <p:nvPr/>
        </p:nvSpPr>
        <p:spPr>
          <a:xfrm>
            <a:off x="8183880" y="3383280"/>
            <a:ext cx="3246120" cy="141732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5" name="Text 33"/>
          <p:cNvSpPr/>
          <p:nvPr/>
        </p:nvSpPr>
        <p:spPr>
          <a:xfrm>
            <a:off x="8458200" y="36576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F46"/>
                </a:solidFill>
              </a:rPr>
              <a:t>Si está regularizado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458200" y="4069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64E3B"/>
                </a:solidFill>
              </a:rPr>
              <a:t>Generar liquidación PDF</a:t>
            </a:r>
            <a:endParaRPr lang="en-US" sz="1700" dirty="0"/>
          </a:p>
        </p:txBody>
      </p:sp>
      <p:sp>
        <p:nvSpPr>
          <p:cNvPr id="37" name="Shape 35"/>
          <p:cNvSpPr/>
          <p:nvPr/>
        </p:nvSpPr>
        <p:spPr>
          <a:xfrm>
            <a:off x="685800" y="3383280"/>
            <a:ext cx="6309360" cy="1417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8" name="Text 36"/>
          <p:cNvSpPr/>
          <p:nvPr/>
        </p:nvSpPr>
        <p:spPr>
          <a:xfrm>
            <a:off x="960120" y="361188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Resultado esperado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" y="3977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34155"/>
                </a:solidFill>
              </a:rPr>
              <a:t>El usuario deja de “buscar y comprobar” cada antecedente por separado y pasa a supervisar excepciones y casos pendientes.</a:t>
            </a:r>
            <a:endParaRPr lang="en-US" sz="16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Alcance del MVP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núcleo debe funcionar completamente antes de incorporar funciones avanzadas.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502920" y="1417320"/>
            <a:ext cx="64008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704088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Usuarios y roles</a:t>
            </a:r>
            <a:endParaRPr lang="en-US" sz="1320" dirty="0"/>
          </a:p>
        </p:txBody>
      </p:sp>
      <p:sp>
        <p:nvSpPr>
          <p:cNvPr id="7" name="Text 5"/>
          <p:cNvSpPr/>
          <p:nvPr/>
        </p:nvSpPr>
        <p:spPr>
          <a:xfrm>
            <a:off x="704088" y="1947672"/>
            <a:ext cx="21945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</a:rPr>
              <a:t>Login, administrador, ejecutivo y control de acceso.</a:t>
            </a:r>
            <a:endParaRPr lang="en-US" sz="1020" dirty="0"/>
          </a:p>
        </p:txBody>
      </p:sp>
      <p:sp>
        <p:nvSpPr>
          <p:cNvPr id="8" name="Shape 6"/>
          <p:cNvSpPr/>
          <p:nvPr/>
        </p:nvSpPr>
        <p:spPr>
          <a:xfrm>
            <a:off x="3383280" y="141732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3383280" y="1417320"/>
            <a:ext cx="64008" cy="16002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3584448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Propiedades y contratos</a:t>
            </a:r>
            <a:endParaRPr lang="en-US" sz="1320" dirty="0"/>
          </a:p>
        </p:txBody>
      </p:sp>
      <p:sp>
        <p:nvSpPr>
          <p:cNvPr id="11" name="Text 9"/>
          <p:cNvSpPr/>
          <p:nvPr/>
        </p:nvSpPr>
        <p:spPr>
          <a:xfrm>
            <a:off x="3584448" y="1947672"/>
            <a:ext cx="21945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</a:rPr>
              <a:t>Propietarios, arrendatarios, inmuebles y vigencia contractual.</a:t>
            </a:r>
            <a:endParaRPr lang="en-US" sz="1020" dirty="0"/>
          </a:p>
        </p:txBody>
      </p:sp>
      <p:sp>
        <p:nvSpPr>
          <p:cNvPr id="12" name="Shape 10"/>
          <p:cNvSpPr/>
          <p:nvPr/>
        </p:nvSpPr>
        <p:spPr>
          <a:xfrm>
            <a:off x="6263640" y="141732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6263640" y="1417320"/>
            <a:ext cx="64008" cy="1600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6464808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Obligaciones y pagos</a:t>
            </a:r>
            <a:endParaRPr lang="en-US" sz="1320" dirty="0"/>
          </a:p>
        </p:txBody>
      </p:sp>
      <p:sp>
        <p:nvSpPr>
          <p:cNvPr id="15" name="Text 13"/>
          <p:cNvSpPr/>
          <p:nvPr/>
        </p:nvSpPr>
        <p:spPr>
          <a:xfrm>
            <a:off x="6464808" y="1947672"/>
            <a:ext cx="21945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</a:rPr>
              <a:t>Arriendo, agua, luz, GG.CC., montos y estados.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144000" y="141732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9144000" y="1417320"/>
            <a:ext cx="64008" cy="160020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9345168" y="15819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Documentos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9345168" y="1947672"/>
            <a:ext cx="21945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</a:rPr>
              <a:t>Carga, almacenamiento y asociación a inmueble/período.</a:t>
            </a:r>
            <a:endParaRPr lang="en-US" sz="1020" dirty="0"/>
          </a:p>
        </p:txBody>
      </p:sp>
      <p:sp>
        <p:nvSpPr>
          <p:cNvPr id="20" name="Shape 18"/>
          <p:cNvSpPr/>
          <p:nvPr/>
        </p:nvSpPr>
        <p:spPr>
          <a:xfrm>
            <a:off x="502920" y="347472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502920" y="3474720"/>
            <a:ext cx="64008" cy="16002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704088" y="36393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Conciliación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704088" y="4005072"/>
            <a:ext cx="21945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</a:rPr>
              <a:t>Cruce automático de obligación, pago y evidencia.</a:t>
            </a:r>
            <a:endParaRPr lang="en-US" sz="1020" dirty="0"/>
          </a:p>
        </p:txBody>
      </p:sp>
      <p:sp>
        <p:nvSpPr>
          <p:cNvPr id="24" name="Shape 22"/>
          <p:cNvSpPr/>
          <p:nvPr/>
        </p:nvSpPr>
        <p:spPr>
          <a:xfrm>
            <a:off x="3383280" y="347472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3383280" y="3474720"/>
            <a:ext cx="64008" cy="160020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3584448" y="36393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Semáforo</a:t>
            </a:r>
            <a:endParaRPr lang="en-US" sz="1320" dirty="0"/>
          </a:p>
        </p:txBody>
      </p:sp>
      <p:sp>
        <p:nvSpPr>
          <p:cNvPr id="27" name="Text 25"/>
          <p:cNvSpPr/>
          <p:nvPr/>
        </p:nvSpPr>
        <p:spPr>
          <a:xfrm>
            <a:off x="3584448" y="4005072"/>
            <a:ext cx="21945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</a:rPr>
              <a:t>Al día, en revisión o con mora; con motivo visible.</a:t>
            </a:r>
            <a:endParaRPr lang="en-US" sz="1020" dirty="0"/>
          </a:p>
        </p:txBody>
      </p:sp>
      <p:sp>
        <p:nvSpPr>
          <p:cNvPr id="28" name="Shape 26"/>
          <p:cNvSpPr/>
          <p:nvPr/>
        </p:nvSpPr>
        <p:spPr>
          <a:xfrm>
            <a:off x="6263640" y="347472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6263640" y="3474720"/>
            <a:ext cx="64008" cy="16002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6464808" y="36393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Liquidaciones</a:t>
            </a:r>
            <a:endParaRPr lang="en-US" sz="1320" dirty="0"/>
          </a:p>
        </p:txBody>
      </p:sp>
      <p:sp>
        <p:nvSpPr>
          <p:cNvPr id="31" name="Text 29"/>
          <p:cNvSpPr/>
          <p:nvPr/>
        </p:nvSpPr>
        <p:spPr>
          <a:xfrm>
            <a:off x="6464808" y="4005072"/>
            <a:ext cx="21945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</a:rPr>
              <a:t>Cálculo y generación de PDF para propietario.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9144000" y="3474720"/>
            <a:ext cx="251460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9144000" y="3474720"/>
            <a:ext cx="64008" cy="1600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9345168" y="363931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0F172A"/>
                </a:solidFill>
              </a:rPr>
              <a:t>Dashboard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9345168" y="4005072"/>
            <a:ext cx="2194560" cy="9418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20" dirty="0">
                <a:solidFill>
                  <a:srgbClr val="475569"/>
                </a:solidFill>
              </a:rPr>
              <a:t>Indicadores básicos de cartera, mora y liquidaciones.</a:t>
            </a:r>
            <a:endParaRPr lang="en-US" sz="1020" dirty="0"/>
          </a:p>
        </p:txBody>
      </p:sp>
      <p:sp>
        <p:nvSpPr>
          <p:cNvPr id="36" name="Shape 34"/>
          <p:cNvSpPr/>
          <p:nvPr/>
        </p:nvSpPr>
        <p:spPr>
          <a:xfrm>
            <a:off x="502920" y="5596128"/>
            <a:ext cx="11064240" cy="512064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7" name="Text 35"/>
          <p:cNvSpPr/>
          <p:nvPr/>
        </p:nvSpPr>
        <p:spPr>
          <a:xfrm>
            <a:off x="713232" y="5760720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30" dirty="0">
                <a:solidFill>
                  <a:srgbClr val="9A3412"/>
                </a:solidFill>
              </a:rPr>
              <a:t>Fuera del camino crítico: integración directa con Enel/Aguas Andinas, predicción de mora y automatización avanzada de correo.</a:t>
            </a:r>
            <a:endParaRPr lang="en-US" sz="103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Arquitectura tecnológica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Separación entre operación, procesamiento documental y analítica.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</a:rPr>
              <a:t>Fuentes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03504" y="178308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</a:rPr>
              <a:t>Excel / Sheets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502920" y="2560320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03504" y="274320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</a:rPr>
              <a:t>Gmail</a:t>
            </a:r>
            <a:endParaRPr lang="en-US" sz="1020" dirty="0"/>
          </a:p>
        </p:txBody>
      </p:sp>
      <p:sp>
        <p:nvSpPr>
          <p:cNvPr id="9" name="Shape 7"/>
          <p:cNvSpPr/>
          <p:nvPr/>
        </p:nvSpPr>
        <p:spPr>
          <a:xfrm>
            <a:off x="502920" y="3520440"/>
            <a:ext cx="169164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603504" y="3703320"/>
            <a:ext cx="1481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0F172A"/>
                </a:solidFill>
              </a:rPr>
              <a:t>PDF / imágenes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2743200" y="1965960"/>
            <a:ext cx="2011680" cy="1298448"/>
          </a:xfrm>
          <a:prstGeom prst="roundRect">
            <a:avLst/>
          </a:prstGeom>
          <a:solidFill>
            <a:srgbClr val="EFF6FF"/>
          </a:solidFill>
          <a:ln w="16510">
            <a:solidFill>
              <a:srgbClr val="93C5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2971800" y="2221992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D4ED8"/>
                </a:solidFill>
              </a:rPr>
              <a:t>Aplicación web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971800" y="26517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334155"/>
                </a:solidFill>
              </a:rPr>
              <a:t>Next.js + React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417320"/>
            <a:ext cx="2103120" cy="109728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5715000" y="1673352"/>
            <a:ext cx="1645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47857"/>
                </a:solidFill>
              </a:rPr>
              <a:t>Base operacional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650992" y="202996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PostgreSQL / Supabase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0" y="2834640"/>
            <a:ext cx="2103120" cy="109728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5687568" y="3090672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45309"/>
                </a:solidFill>
              </a:rPr>
              <a:t>Procesamiento docs.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650992" y="34472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</a:rPr>
              <a:t>Document AI + Python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595360" y="1188720"/>
            <a:ext cx="2331720" cy="86868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8823960" y="148132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338CA"/>
                </a:solidFill>
              </a:rPr>
              <a:t>BigQuery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595360" y="2423160"/>
            <a:ext cx="2331720" cy="86868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8823960" y="271576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D28D9"/>
                </a:solidFill>
              </a:rPr>
              <a:t>Dataform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595360" y="3657600"/>
            <a:ext cx="2331720" cy="868680"/>
          </a:xfrm>
          <a:prstGeom prst="roundRect">
            <a:avLst/>
          </a:prstGeom>
          <a:solidFill>
            <a:srgbClr val="F0FDFA"/>
          </a:solidFill>
          <a:ln w="12700">
            <a:solidFill>
              <a:srgbClr val="99F6E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8823960" y="3950208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766E"/>
                </a:solidFill>
              </a:rPr>
              <a:t>Looker Studio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286000" y="2423160"/>
            <a:ext cx="274320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Shape 25"/>
          <p:cNvSpPr/>
          <p:nvPr/>
        </p:nvSpPr>
        <p:spPr>
          <a:xfrm>
            <a:off x="4983480" y="1828800"/>
            <a:ext cx="274320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8" name="Shape 26"/>
          <p:cNvSpPr/>
          <p:nvPr/>
        </p:nvSpPr>
        <p:spPr>
          <a:xfrm>
            <a:off x="4983480" y="3310128"/>
            <a:ext cx="274320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7882128" y="1572768"/>
            <a:ext cx="310896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Shape 28"/>
          <p:cNvSpPr/>
          <p:nvPr/>
        </p:nvSpPr>
        <p:spPr>
          <a:xfrm>
            <a:off x="9528048" y="2084832"/>
            <a:ext cx="438912" cy="274320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Shape 29"/>
          <p:cNvSpPr/>
          <p:nvPr/>
        </p:nvSpPr>
        <p:spPr>
          <a:xfrm>
            <a:off x="9528048" y="3319272"/>
            <a:ext cx="438912" cy="274320"/>
          </a:xfrm>
          <a:prstGeom prst="downArrow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2" name="Shape 30"/>
          <p:cNvSpPr/>
          <p:nvPr/>
        </p:nvSpPr>
        <p:spPr>
          <a:xfrm>
            <a:off x="3749040" y="3264408"/>
            <a:ext cx="0" cy="16916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2697480" y="443484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Operación diaria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595360" y="480060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</a:rPr>
              <a:t>Analítica histórica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560320" y="5120640"/>
            <a:ext cx="5669280" cy="6583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6" name="Text 34"/>
          <p:cNvSpPr/>
          <p:nvPr/>
        </p:nvSpPr>
        <p:spPr>
          <a:xfrm>
            <a:off x="2788920" y="5321808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334155"/>
                </a:solidFill>
              </a:rPr>
              <a:t>Principio de diseño: PostgreSQL gestiona la operación; BigQuery/Dataform/Looker complementan con analítica, sin ser dependencia del MVP.</a:t>
            </a:r>
            <a:endParaRPr lang="en-US" sz="106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Procesamiento documental y conciliación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innovación está en interpretar antecedentes y convertirlos en decisiones operacionales.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20040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60120" y="162763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F172A"/>
                </a:solidFill>
              </a:rPr>
              <a:t>Documento cargado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17320" y="2148840"/>
            <a:ext cx="173736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1627632" y="246888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</a:rPr>
              <a:t>BOLETA</a:t>
            </a:r>
            <a:endParaRPr lang="en-US" sz="1800" dirty="0"/>
          </a:p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</a:rPr>
              <a:t>AGUA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64208" y="3246120"/>
            <a:ext cx="1280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Cliente: 3070926-8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Monto: $28.560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</a:rPr>
              <a:t>Período: Ago-2026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25880" y="4343400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64748B"/>
                </a:solidFill>
              </a:rPr>
              <a:t>Ejemplo ilustrativo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14800" y="2834640"/>
            <a:ext cx="384048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2971800" cy="434340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5074920" y="1645920"/>
            <a:ext cx="2240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B45309"/>
                </a:solidFill>
              </a:rPr>
              <a:t>OCR / IA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047488" y="2240280"/>
            <a:ext cx="2331720" cy="2240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empresa y tipo de documento.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Extrae número de cliente, monto, fecha y período.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Asocia el antecedente con la propiedad correspondiente.</a:t>
            </a:r>
            <a:endParaRPr lang="en-US" sz="1100" dirty="0"/>
          </a:p>
          <a:p>
            <a:pPr marL="177800" indent="-177800"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un nivel de confianza para revisión humana.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4828032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92400E"/>
                </a:solidFill>
              </a:rPr>
              <a:t>No se “certifica” autenticidad: se valida consistencia de los datos contra el sistema.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909560" y="2834640"/>
            <a:ext cx="384048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8458200" y="1325880"/>
            <a:ext cx="2971800" cy="4343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8732520" y="1645920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47857"/>
                </a:solidFill>
              </a:rPr>
              <a:t>Motor de conciliación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8805672" y="228600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Obligación esperada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961120" y="261518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3"/>
                </a:solidFill>
              </a:rPr>
              <a:t>$28.560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805672" y="312724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172A"/>
                </a:solidFill>
              </a:rPr>
              <a:t>Pago / documento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61120" y="345643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B1F33"/>
                </a:solidFill>
              </a:rPr>
              <a:t>$28.560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942832" y="4160520"/>
            <a:ext cx="1965960" cy="310896"/>
          </a:xfrm>
          <a:prstGeom prst="roundRect">
            <a:avLst>
              <a:gd name="adj" fmla="val 35294"/>
            </a:avLst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8942832" y="418795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DCFCE7"/>
                </a:solidFill>
              </a:rPr>
              <a:t>✓ COINCIDE</a:t>
            </a:r>
            <a:endParaRPr lang="en-US" sz="920" dirty="0"/>
          </a:p>
        </p:txBody>
      </p:sp>
      <p:sp>
        <p:nvSpPr>
          <p:cNvPr id="24" name="Text 22"/>
          <p:cNvSpPr/>
          <p:nvPr/>
        </p:nvSpPr>
        <p:spPr>
          <a:xfrm>
            <a:off x="8732520" y="477316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65F46"/>
                </a:solidFill>
              </a:rPr>
              <a:t>Estado del concepto: PAGADO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Capa analítica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datos históricos se transforman en información útil para la gestión de cartera.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758952" y="15087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</a:rPr>
              <a:t>154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463040" y="15361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Propiedades administradas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56432" y="132588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3621024" y="15087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E9F6E"/>
                </a:solidFill>
              </a:rPr>
              <a:t>118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325112" y="15361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Al día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318504" y="132588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6483096" y="15087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C2626"/>
                </a:solidFill>
              </a:rPr>
              <a:t>21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7187184" y="15361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Con deuda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9180576" y="1325880"/>
            <a:ext cx="25146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9345168" y="150876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563EB"/>
                </a:solidFill>
              </a:rPr>
              <a:t>15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0049256" y="153619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En revisión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2788920"/>
            <a:ext cx="5212080" cy="26060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868680" y="3063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Indicadores de negocio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3520440"/>
            <a:ext cx="4480560" cy="1463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Porcentaje de morosidad por período y edificio.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Monto total pendiente por tipo de obligación.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Propiedades listas para liquidar vs. bloqueadas.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Evolución histórica de pagos y atrasos.</a:t>
            </a:r>
            <a:endParaRPr lang="en-US" sz="1120" dirty="0"/>
          </a:p>
          <a:p>
            <a:pPr marL="177800" indent="-177800">
              <a:buSzPct val="100000"/>
              <a:buChar char="•"/>
            </a:pPr>
            <a:r>
              <a:rPr lang="en-US" sz="112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Tiempo promedio de cierre de una liquidación.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6172200" y="2788920"/>
            <a:ext cx="5349240" cy="2606040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6446520" y="306324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D28D9"/>
                </a:solidFill>
              </a:rPr>
              <a:t>Flujo de datos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46520" y="3703320"/>
            <a:ext cx="1005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6501384" y="386791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PostgreSQL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01384" y="416052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Operación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479792" y="3968496"/>
            <a:ext cx="173736" cy="256032"/>
          </a:xfrm>
          <a:prstGeom prst="chevron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7680960" y="3703320"/>
            <a:ext cx="1005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7735824" y="386791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BigQuery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35824" y="416052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Histórico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8714232" y="3968496"/>
            <a:ext cx="173736" cy="256032"/>
          </a:xfrm>
          <a:prstGeom prst="chevron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Shape 27"/>
          <p:cNvSpPr/>
          <p:nvPr/>
        </p:nvSpPr>
        <p:spPr>
          <a:xfrm>
            <a:off x="8915400" y="3703320"/>
            <a:ext cx="1005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0" name="Text 28"/>
          <p:cNvSpPr/>
          <p:nvPr/>
        </p:nvSpPr>
        <p:spPr>
          <a:xfrm>
            <a:off x="8970264" y="386791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Dataform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8970264" y="416052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Transformación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9948672" y="3968496"/>
            <a:ext cx="173736" cy="256032"/>
          </a:xfrm>
          <a:prstGeom prst="chevron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Shape 31"/>
          <p:cNvSpPr/>
          <p:nvPr/>
        </p:nvSpPr>
        <p:spPr>
          <a:xfrm>
            <a:off x="10149840" y="3703320"/>
            <a:ext cx="1005840" cy="777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B5FD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4" name="Text 32"/>
          <p:cNvSpPr/>
          <p:nvPr/>
        </p:nvSpPr>
        <p:spPr>
          <a:xfrm>
            <a:off x="10204704" y="3867912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F172A"/>
                </a:solidFill>
              </a:rPr>
              <a:t>Looker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204704" y="4160520"/>
            <a:ext cx="8961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Visualización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6446520" y="4754880"/>
            <a:ext cx="4526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60" dirty="0">
                <a:solidFill>
                  <a:srgbClr val="5B21B6"/>
                </a:solidFill>
              </a:rPr>
              <a:t>La analítica es complementaria al MVP: mejora la toma de decisiones sin interferir con la operación diaria.</a:t>
            </a:r>
            <a:endParaRPr lang="en-US" sz="106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¿Dónde está la innovación?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trata solo de digitalizar una planilla: se automatiza el razonamiento operativo del proceso.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4937760" cy="44805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60120" y="16916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34155"/>
                </a:solidFill>
              </a:rPr>
              <a:t>Sistema tradicional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331720"/>
            <a:ext cx="402336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 propiedades y pagos.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usuario revisa documentos manualmente.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estado de deuda depende de comprobaciones externas.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liquidación se calcula después de revisar todo.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información histórica queda dispersa.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537960" y="1371600"/>
            <a:ext cx="4937760" cy="448056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6812280" y="1691640"/>
            <a:ext cx="4389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D4ED8"/>
                </a:solidFill>
              </a:rPr>
              <a:t>RentFlow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995160" y="2331720"/>
            <a:ext cx="4023360" cy="23317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Centraliza obligaciones, pagos y documentos.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Extrae datos desde antecedentes mediante OCR/IA.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Cruza automáticamente lo esperado con lo recibido.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 por qué una propiedad está verde, amarilla o roja.</a:t>
            </a:r>
            <a:endParaRPr lang="en-US" sz="1200" dirty="0"/>
          </a:p>
          <a:p>
            <a:pPr marL="177800" indent="-177800"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Habilita liquidación y analítica desde el mismo flujo.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874520" y="5349240"/>
            <a:ext cx="8321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1F33"/>
                </a:solidFill>
              </a:rPr>
              <a:t>Valor diferencial: recopilar → interpretar → contrastar → conciliar → decidir → liquidar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Justificación financiera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viabilidad se evaluará con datos reales del proceso de la corredora.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85800" y="1353312"/>
            <a:ext cx="31546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85800" y="1353312"/>
            <a:ext cx="64008" cy="15087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886968" y="15179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1. Medir proceso actual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86968" y="1883664"/>
            <a:ext cx="283464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</a:rPr>
              <a:t>Cantidad de propiedades × minutos de revisión por propiedad × costo hora administrativo.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526280" y="1353312"/>
            <a:ext cx="31546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4526280" y="1353312"/>
            <a:ext cx="64008" cy="150876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4727448" y="15179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2. Medir proceso automatizado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27448" y="1883664"/>
            <a:ext cx="283464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</a:rPr>
              <a:t>Tiempo promedio con RentFlow, cantidad de excepciones y horas efectivamente utilizadas.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366760" y="1353312"/>
            <a:ext cx="3154680" cy="150876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8366760" y="1353312"/>
            <a:ext cx="64008" cy="1508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8567928" y="1517904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3. Cuantificar beneficio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67928" y="1883664"/>
            <a:ext cx="2834640" cy="8503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0" indent="0">
              <a:buNone/>
            </a:pPr>
            <a:r>
              <a:rPr lang="en-US" sz="1080" dirty="0">
                <a:solidFill>
                  <a:srgbClr val="475569"/>
                </a:solidFill>
              </a:rPr>
              <a:t>Ahorro de horas + reducción de reprocesos + capacidad adicional de administración.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85800" y="3401568"/>
            <a:ext cx="672084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960120" y="3675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</a:rPr>
              <a:t>Indicadores a calcular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4069080"/>
            <a:ext cx="566928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/>
          <a:lstStyle/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mensual del proceso actual vs. automatizado.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Porcentaje de reducción del tiempo por liquidación.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ROI / período de recuperación de la inversión.</a:t>
            </a:r>
            <a:endParaRPr lang="en-US" sz="1150" dirty="0"/>
          </a:p>
          <a:p>
            <a:pPr marL="177800" indent="-177800">
              <a:buSzPct val="100000"/>
              <a:buChar char="•"/>
            </a:pPr>
            <a:r>
              <a:rPr lang="en-US" sz="1150" dirty="0">
                <a:solidFill>
                  <a:srgbClr val="3341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Ahorro por disminución de errores y reprocesos.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818120" y="3401568"/>
            <a:ext cx="3703320" cy="205740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8183880" y="37673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47857"/>
                </a:solidFill>
              </a:rPr>
              <a:t>Criterio de éxito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83880" y="4279392"/>
            <a:ext cx="2971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65F46"/>
                </a:solidFill>
              </a:rPr>
              <a:t>Demostrar que el costo de automatizar es justificable frente al tiempo y riesgo que hoy consume el proceso manual.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715000"/>
            <a:ext cx="10241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80" i="1" dirty="0">
                <a:solidFill>
                  <a:srgbClr val="64748B"/>
                </a:solidFill>
              </a:rPr>
              <a:t>Los valores económicos definitivos deben levantarse con la corredora; no se asumirán cifras sin respaldo.</a:t>
            </a:r>
            <a:endParaRPr lang="en-US" sz="9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Coherencia con la carrera y perfil de egreso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integra competencias de distintas áreas de Ingeniería en Informática.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731520" y="1325880"/>
            <a:ext cx="274320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32688" y="147218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1F33"/>
                </a:solidFill>
              </a:rPr>
              <a:t>Requisitos / BPM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3703320" y="1325880"/>
            <a:ext cx="7635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5"/>
          <p:cNvSpPr/>
          <p:nvPr/>
        </p:nvSpPr>
        <p:spPr>
          <a:xfrm>
            <a:off x="3913632" y="146304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Levantamiento AS-IS, TO-BE y reglas del proceso.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1984248"/>
            <a:ext cx="274320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32688" y="213055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1F33"/>
                </a:solidFill>
              </a:rPr>
              <a:t>Programación web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3703320" y="1984248"/>
            <a:ext cx="7635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3913632" y="212140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Interfaz y funcionalidades de la plataforma.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31520" y="2642616"/>
            <a:ext cx="274320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932688" y="2788920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1F33"/>
                </a:solidFill>
              </a:rPr>
              <a:t>Bases de datos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3703320" y="2642616"/>
            <a:ext cx="7635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3913632" y="2779776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Modelo operacional, consultas y trazabilidad.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31520" y="3300984"/>
            <a:ext cx="274320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932688" y="3447288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1F33"/>
                </a:solidFill>
              </a:rPr>
              <a:t>Arquitectura / integración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3703320" y="3300984"/>
            <a:ext cx="7635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3913632" y="3438144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Web, APIs, OCR, almacenamiento y servicios cloud.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31520" y="3959352"/>
            <a:ext cx="274320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932688" y="4105656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1F33"/>
                </a:solidFill>
              </a:rPr>
              <a:t>Seguridad / calidad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3703320" y="3959352"/>
            <a:ext cx="7635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3913632" y="409651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Roles, permisos, auditoría y pruebas.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31520" y="4617720"/>
            <a:ext cx="2743200" cy="5029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932688" y="4764024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1F33"/>
                </a:solidFill>
              </a:rPr>
              <a:t>BI / Big Data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3703320" y="4617720"/>
            <a:ext cx="7635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3913632" y="4754880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BigQuery, Dataform e indicadores en Looker.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731520" y="5276088"/>
            <a:ext cx="2743200" cy="50292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932688" y="5422392"/>
            <a:ext cx="2331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1F33"/>
                </a:solidFill>
              </a:rPr>
              <a:t>Evaluación de proyectos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3703320" y="5276088"/>
            <a:ext cx="7635240" cy="502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3913632" y="5413248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34155"/>
                </a:solidFill>
              </a:rPr>
              <a:t>Costos, beneficios, ROI y factibilidad.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1143000" y="6144768"/>
            <a:ext cx="9784080" cy="329184"/>
          </a:xfrm>
          <a:prstGeom prst="round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1417320" y="6236208"/>
            <a:ext cx="9235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FFFFFF"/>
                </a:solidFill>
              </a:rPr>
              <a:t>El proyecto demuestra integración de competencias, no asignaturas aisladas.</a:t>
            </a:r>
            <a:endParaRPr lang="en-US" sz="107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Metodología y plan de trabajo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Enfoque ágil con avance incremental y validación continua.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85800" y="150876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Shape 3"/>
          <p:cNvSpPr/>
          <p:nvPr/>
        </p:nvSpPr>
        <p:spPr>
          <a:xfrm>
            <a:off x="685800" y="1508760"/>
            <a:ext cx="3429000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941832" y="1874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FASE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103120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Semanas 1–4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41832" y="2423160"/>
            <a:ext cx="29077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Levantamiento, requerimientos, AS-IS/TO-BE, prototipos, arquitectura y modelo de datos.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07992" y="150876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4507992" y="1508760"/>
            <a:ext cx="3429000" cy="128016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4764024" y="1874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E9F6E"/>
                </a:solidFill>
              </a:rPr>
              <a:t>FASE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25312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Semanas 5–15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64024" y="2423160"/>
            <a:ext cx="29077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Desarrollo del MVP, OCR, conciliación, liquidaciones, seguridad e integración analítica.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330184" y="1508760"/>
            <a:ext cx="3429000" cy="2971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Shape 13"/>
          <p:cNvSpPr/>
          <p:nvPr/>
        </p:nvSpPr>
        <p:spPr>
          <a:xfrm>
            <a:off x="8330184" y="1508760"/>
            <a:ext cx="3429000" cy="128016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586216" y="187452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</a:rPr>
              <a:t>FASE 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747504" y="1874520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4748B"/>
                </a:solidFill>
              </a:rPr>
              <a:t>Semanas 16–18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586216" y="2423160"/>
            <a:ext cx="2907792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Pruebas, evaluación financiera, documentación, presentación y demostración final.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498348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1F33"/>
                </a:solidFill>
              </a:rPr>
              <a:t>Scrum / iteraciones cortas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880360" y="4983480"/>
            <a:ext cx="7909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34155"/>
                </a:solidFill>
              </a:rPr>
              <a:t>Backlog → Sprint → Desarrollo → Pruebas → Revisión → Ajuste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5532120"/>
            <a:ext cx="99669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Shape 20"/>
          <p:cNvSpPr/>
          <p:nvPr/>
        </p:nvSpPr>
        <p:spPr>
          <a:xfrm>
            <a:off x="777240" y="536752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365760" y="58064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Requisitos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2560320" y="5367528"/>
            <a:ext cx="310896" cy="31089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2148840" y="58064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Frontend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4343400" y="5367528"/>
            <a:ext cx="310896" cy="310896"/>
          </a:xfrm>
          <a:prstGeom prst="ellipse">
            <a:avLst/>
          </a:prstGeom>
          <a:solidFill>
            <a:srgbClr val="0E9F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3931920" y="58064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Backend / BD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6126480" y="5367528"/>
            <a:ext cx="310896" cy="310896"/>
          </a:xfrm>
          <a:prstGeom prst="ellipse">
            <a:avLst/>
          </a:prstGeom>
          <a:solidFill>
            <a:srgbClr val="0E9F6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9" name="Text 27"/>
          <p:cNvSpPr/>
          <p:nvPr/>
        </p:nvSpPr>
        <p:spPr>
          <a:xfrm>
            <a:off x="5715000" y="58064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OCR / integración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7909560" y="536752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1" name="Text 29"/>
          <p:cNvSpPr/>
          <p:nvPr/>
        </p:nvSpPr>
        <p:spPr>
          <a:xfrm>
            <a:off x="7498080" y="58064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Datos / BI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9692640" y="5367528"/>
            <a:ext cx="310896" cy="31089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3" name="Text 31"/>
          <p:cNvSpPr/>
          <p:nvPr/>
        </p:nvSpPr>
        <p:spPr>
          <a:xfrm>
            <a:off x="9281160" y="580644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80" dirty="0">
                <a:solidFill>
                  <a:srgbClr val="64748B"/>
                </a:solidFill>
              </a:rPr>
              <a:t>QA / cierre</a:t>
            </a:r>
            <a:endParaRPr lang="en-US" sz="88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0B1F3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Riesgos y mitigaciones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03504" y="832104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4755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alcance se diseña para proteger el MVP de dependencias externas.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3337560" cy="8686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5" name="Text 3"/>
          <p:cNvSpPr/>
          <p:nvPr/>
        </p:nvSpPr>
        <p:spPr>
          <a:xfrm>
            <a:off x="960120" y="16733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APIs de servicios no disponibles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206240" y="1709928"/>
            <a:ext cx="329184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Shape 5"/>
          <p:cNvSpPr/>
          <p:nvPr/>
        </p:nvSpPr>
        <p:spPr>
          <a:xfrm>
            <a:off x="4754880" y="1417320"/>
            <a:ext cx="6720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Shape 6"/>
          <p:cNvSpPr/>
          <p:nvPr/>
        </p:nvSpPr>
        <p:spPr>
          <a:xfrm>
            <a:off x="4754880" y="1417320"/>
            <a:ext cx="64008" cy="86868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5010912" y="1609344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334155"/>
                </a:solidFill>
              </a:rPr>
              <a:t>El MVP funciona con carga documental y validación de consistencia; las APIs son opcionales.</a:t>
            </a:r>
            <a:endParaRPr lang="en-US" sz="1110" dirty="0"/>
          </a:p>
        </p:txBody>
      </p:sp>
      <p:sp>
        <p:nvSpPr>
          <p:cNvPr id="10" name="Shape 8"/>
          <p:cNvSpPr/>
          <p:nvPr/>
        </p:nvSpPr>
        <p:spPr>
          <a:xfrm>
            <a:off x="685800" y="2587752"/>
            <a:ext cx="3337560" cy="8686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9"/>
          <p:cNvSpPr/>
          <p:nvPr/>
        </p:nvSpPr>
        <p:spPr>
          <a:xfrm>
            <a:off x="960120" y="284378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Tiempo limitado de desarrollo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206240" y="2880360"/>
            <a:ext cx="329184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754880" y="2587752"/>
            <a:ext cx="6720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4754880" y="2587752"/>
            <a:ext cx="64008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5010912" y="2779776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334155"/>
                </a:solidFill>
              </a:rPr>
              <a:t>Priorizar funcionalidades críticas y dejar predicción e integraciones avanzadas para fase posterior.</a:t>
            </a:r>
            <a:endParaRPr lang="en-US" sz="1110" dirty="0"/>
          </a:p>
        </p:txBody>
      </p:sp>
      <p:sp>
        <p:nvSpPr>
          <p:cNvPr id="16" name="Shape 14"/>
          <p:cNvSpPr/>
          <p:nvPr/>
        </p:nvSpPr>
        <p:spPr>
          <a:xfrm>
            <a:off x="685800" y="3758184"/>
            <a:ext cx="3337560" cy="8686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960120" y="4014216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OCR con baja calidad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206240" y="4050792"/>
            <a:ext cx="329184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4754880" y="3758184"/>
            <a:ext cx="6720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Shape 18"/>
          <p:cNvSpPr/>
          <p:nvPr/>
        </p:nvSpPr>
        <p:spPr>
          <a:xfrm>
            <a:off x="4754880" y="3758184"/>
            <a:ext cx="64008" cy="86868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5010912" y="3950208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334155"/>
                </a:solidFill>
              </a:rPr>
              <a:t>Definir umbral de confianza y permitir revisión/corrección manual antes de conciliar.</a:t>
            </a:r>
            <a:endParaRPr lang="en-US" sz="1110" dirty="0"/>
          </a:p>
        </p:txBody>
      </p:sp>
      <p:sp>
        <p:nvSpPr>
          <p:cNvPr id="22" name="Shape 20"/>
          <p:cNvSpPr/>
          <p:nvPr/>
        </p:nvSpPr>
        <p:spPr>
          <a:xfrm>
            <a:off x="685800" y="4928616"/>
            <a:ext cx="3337560" cy="868680"/>
          </a:xfrm>
          <a:prstGeom prst="roundRect">
            <a:avLst/>
          </a:prstGeom>
          <a:solidFill>
            <a:srgbClr val="FFF1F2"/>
          </a:solidFill>
          <a:ln w="12700">
            <a:solidFill>
              <a:srgbClr val="FECDD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3" name="Text 21"/>
          <p:cNvSpPr/>
          <p:nvPr/>
        </p:nvSpPr>
        <p:spPr>
          <a:xfrm>
            <a:off x="960120" y="518464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72A"/>
                </a:solidFill>
              </a:rPr>
              <a:t>Datos incompletos o sensibles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06240" y="5221224"/>
            <a:ext cx="329184" cy="256032"/>
          </a:xfrm>
          <a:prstGeom prst="chevron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4754880" y="4928616"/>
            <a:ext cx="672084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Shape 24"/>
          <p:cNvSpPr/>
          <p:nvPr/>
        </p:nvSpPr>
        <p:spPr>
          <a:xfrm>
            <a:off x="4754880" y="4928616"/>
            <a:ext cx="64008" cy="868680"/>
          </a:xfrm>
          <a:prstGeom prst="rect">
            <a:avLst/>
          </a:prstGeom>
          <a:solidFill>
            <a:srgbClr val="0E9F6E"/>
          </a:solidFill>
          <a:ln w="12700">
            <a:solidFill>
              <a:srgbClr val="0E9F6E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7" name="Text 25"/>
          <p:cNvSpPr/>
          <p:nvPr/>
        </p:nvSpPr>
        <p:spPr>
          <a:xfrm>
            <a:off x="5010912" y="5120640"/>
            <a:ext cx="6172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10" dirty="0">
                <a:solidFill>
                  <a:srgbClr val="334155"/>
                </a:solidFill>
              </a:rPr>
              <a:t>Trabajar con datos anonimizados, roles y políticas de acceso.</a:t>
            </a:r>
            <a:endParaRPr lang="en-US" sz="111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91440"/>
            <a:ext cx="12191695" cy="6419088"/>
          </a:xfrm>
          <a:prstGeom prst="rect">
            <a:avLst/>
          </a:prstGeom>
          <a:solidFill>
            <a:srgbClr val="0B1F33"/>
          </a:solidFill>
          <a:ln w="12700">
            <a:solidFill>
              <a:srgbClr val="0B1F3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777240" y="9144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RENTFLOW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E2E8F0"/>
                </a:solidFill>
              </a:rPr>
              <a:t>De una revisión manual y fragmentada a un flujo web centralizado, trazable y automatizado.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777240" y="3337560"/>
            <a:ext cx="6355080" cy="1005840"/>
          </a:xfrm>
          <a:prstGeom prst="roundRect">
            <a:avLst/>
          </a:prstGeom>
          <a:solidFill>
            <a:srgbClr val="163B61"/>
          </a:solidFill>
          <a:ln w="12700">
            <a:solidFill>
              <a:srgbClr val="244E7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1005840" y="3639312"/>
            <a:ext cx="5897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DBEAFE"/>
                </a:solidFill>
              </a:rPr>
              <a:t>Problema real  +  Desarrollo web  +  Automatización  +  Datos  +  Viabilidad financiera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0" y="214884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93C5FD"/>
                </a:solidFill>
              </a:rPr>
              <a:t>¿Preguntas?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77240" y="5257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BD5E1"/>
                </a:solidFill>
              </a:rPr>
              <a:t>Proyecto Capstone · Ingeniería en Informática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473952"/>
            <a:ext cx="32004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 lIns="0" tIns="0" rIns="0" bIns="0"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1611</Words>
  <Application>Microsoft Office PowerPoint</Application>
  <PresentationFormat>Panorámica</PresentationFormat>
  <Paragraphs>306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Duoc UC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RentFlow - Plataforma web para corredoras de propiedades</dc:title>
  <dc:subject>Proyecto Capstone RentFlow</dc:subject>
  <dc:creator>OpenAI</dc:creator>
  <cp:lastModifiedBy>Salvador Arenas</cp:lastModifiedBy>
  <cp:revision>2</cp:revision>
  <dcterms:created xsi:type="dcterms:W3CDTF">2026-09-04T19:45:25Z</dcterms:created>
  <dcterms:modified xsi:type="dcterms:W3CDTF">2026-09-04T21:11:45Z</dcterms:modified>
</cp:coreProperties>
</file>